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3" r:id="rId13"/>
    <p:sldId id="294" r:id="rId14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9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9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9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6583680" y="-914400"/>
            <a:ext cx="4114800" cy="4114800"/>
          </a:xfrm>
          <a:prstGeom prst="ellipse"/>
          <a:solidFill>
            <a:srgbClr val="6C4DF6">
              <a:alpha val="45000"/>
            </a:srgbClr>
          </a:solidFill>
        </p:spPr>
      </p:sp>
      <p:sp>
        <p:nvSpPr>
          <p:cNvPr id="1048577" name="Shape 1"/>
          <p:cNvSpPr/>
          <p:nvPr/>
        </p:nvSpPr>
        <p:spPr>
          <a:xfrm>
            <a:off x="7589520" y="2926080"/>
            <a:ext cx="2743200" cy="2743200"/>
          </a:xfrm>
          <a:prstGeom prst="ellipse"/>
          <a:solidFill>
            <a:srgbClr val="FF5C8A">
              <a:alpha val="40000"/>
            </a:srgbClr>
          </a:solidFill>
        </p:spPr>
      </p:sp>
      <p:sp>
        <p:nvSpPr>
          <p:cNvPr id="1048578" name="Text 2"/>
          <p:cNvSpPr txBox="1"/>
          <p:nvPr/>
        </p:nvSpPr>
        <p:spPr>
          <a:xfrm>
            <a:off x="548640" y="457200"/>
            <a:ext cx="64008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kern="0" lang="en-US" spc="300">
                <a:solidFill>
                  <a:srgbClr val="C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MINI PROJECT</a:t>
            </a:r>
            <a:endParaRPr dirty="0" sz="14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548640" y="1005840"/>
            <a:ext cx="685800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4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Manager</a:t>
            </a:r>
            <a:endParaRPr dirty="0" sz="42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548640" y="1828800"/>
            <a:ext cx="685800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2000" lang="en-US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C using a Doubly Linked List</a:t>
            </a:r>
            <a:endParaRPr dirty="0" sz="2000" lang="en-US"/>
          </a:p>
        </p:txBody>
      </p:sp>
      <p:sp>
        <p:nvSpPr>
          <p:cNvPr id="1048581" name="Text 5"/>
          <p:cNvSpPr txBox="1"/>
          <p:nvPr/>
        </p:nvSpPr>
        <p:spPr>
          <a:xfrm>
            <a:off x="548640" y="2926080"/>
            <a:ext cx="6400800" cy="1645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spcAft>
                <a:spcPts val="600"/>
              </a:spcAft>
              <a:buNone/>
            </a:pPr>
            <a:r>
              <a:rPr dirty="0" sz="1500" lang="en-US">
                <a:solidFill>
                  <a:srgbClr val="E6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 [Your Name]</a:t>
            </a:r>
            <a:endParaRPr dirty="0" sz="1500" lang="en-US"/>
          </a:p>
          <a:p>
            <a:pPr indent="0" marL="0">
              <a:spcAft>
                <a:spcPts val="600"/>
              </a:spcAft>
              <a:buNone/>
            </a:pPr>
            <a:r>
              <a:rPr dirty="0" sz="1500" lang="en-US">
                <a:solidFill>
                  <a:srgbClr val="E6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[Enrollment Number]</a:t>
            </a:r>
            <a:endParaRPr dirty="0" sz="1500" lang="en-US"/>
          </a:p>
          <a:p>
            <a:pPr indent="0" marL="0">
              <a:spcAft>
                <a:spcPts val="600"/>
              </a:spcAft>
              <a:buNone/>
            </a:pPr>
            <a:r>
              <a:rPr dirty="0" sz="1500" lang="en-US">
                <a:solidFill>
                  <a:srgbClr val="E6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[Sem]   |   Department: [Department]</a:t>
            </a:r>
            <a:endParaRPr dirty="0" sz="1500" lang="en-US"/>
          </a:p>
          <a:p>
            <a:pPr indent="0" marL="0">
              <a:spcAft>
                <a:spcPts val="600"/>
              </a:spcAft>
              <a:buNone/>
            </a:pPr>
            <a:r>
              <a:rPr dirty="0" sz="1500" lang="en-US">
                <a:solidFill>
                  <a:srgbClr val="E6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[Guide Name]</a:t>
            </a:r>
            <a:endParaRPr dirty="0" sz="15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586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587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dirty="0" sz="2800" lang="en-US"/>
          </a:p>
        </p:txBody>
      </p:sp>
      <p:sp>
        <p:nvSpPr>
          <p:cNvPr id="1048588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2</a:t>
            </a:r>
            <a:endParaRPr dirty="0" sz="1400" lang="en-US"/>
          </a:p>
        </p:txBody>
      </p:sp>
      <p:sp>
        <p:nvSpPr>
          <p:cNvPr id="1048589" name="Text 4"/>
          <p:cNvSpPr txBox="1"/>
          <p:nvPr/>
        </p:nvSpPr>
        <p:spPr>
          <a:xfrm>
            <a:off x="640080" y="1280160"/>
            <a:ext cx="7863840" cy="329184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application to create and manage a music playlist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are stored as nodes of a doubly linked list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adding, deleting, searching and playing songs in order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needed: playlists change constantly, and a linked list grows and shrinks easily without wasting memory</a:t>
            </a:r>
            <a:endParaRPr dirty="0" sz="1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594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595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dirty="0" sz="2800" lang="en-US"/>
          </a:p>
        </p:txBody>
      </p:sp>
      <p:sp>
        <p:nvSpPr>
          <p:cNvPr id="1048596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3</a:t>
            </a:r>
            <a:endParaRPr dirty="0" sz="1400" lang="en-US"/>
          </a:p>
        </p:txBody>
      </p:sp>
      <p:sp>
        <p:nvSpPr>
          <p:cNvPr id="1048597" name="Shape 4"/>
          <p:cNvSpPr/>
          <p:nvPr/>
        </p:nvSpPr>
        <p:spPr>
          <a:xfrm>
            <a:off x="640080" y="1371600"/>
            <a:ext cx="7863840" cy="13716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598" name="Text 5"/>
          <p:cNvSpPr txBox="1"/>
          <p:nvPr/>
        </p:nvSpPr>
        <p:spPr>
          <a:xfrm>
            <a:off x="868680" y="1417320"/>
            <a:ext cx="7406640" cy="12801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900" i="1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store a playlist so songs can be added, removed and navigated forward and backward efficiently, without a fixed size limit?"</a:t>
            </a:r>
            <a:endParaRPr dirty="0" sz="1900" lang="en-US"/>
          </a:p>
        </p:txBody>
      </p:sp>
      <p:sp>
        <p:nvSpPr>
          <p:cNvPr id="1048599" name="Text 6"/>
          <p:cNvSpPr txBox="1"/>
          <p:nvPr/>
        </p:nvSpPr>
        <p:spPr>
          <a:xfrm>
            <a:off x="640080" y="3017520"/>
            <a:ext cx="7863840" cy="155448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have a fixed size and need shifting on insert/delete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easy Next / Previous navigation between songs</a:t>
            </a:r>
            <a:endParaRPr dirty="0" sz="1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604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605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dirty="0" sz="2800" lang="en-US"/>
          </a:p>
        </p:txBody>
      </p:sp>
      <p:sp>
        <p:nvSpPr>
          <p:cNvPr id="1048606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4</a:t>
            </a:r>
            <a:endParaRPr dirty="0" sz="1400" lang="en-US"/>
          </a:p>
        </p:txBody>
      </p:sp>
      <p:sp>
        <p:nvSpPr>
          <p:cNvPr id="1048607" name="Shape 4"/>
          <p:cNvSpPr/>
          <p:nvPr/>
        </p:nvSpPr>
        <p:spPr>
          <a:xfrm>
            <a:off x="640080" y="1234440"/>
            <a:ext cx="457200" cy="457200"/>
          </a:xfrm>
          <a:prstGeom prst="ellipse"/>
          <a:solidFill>
            <a:srgbClr val="6C4DF6"/>
          </a:solidFill>
        </p:spPr>
      </p:sp>
      <p:sp>
        <p:nvSpPr>
          <p:cNvPr id="1048608" name="Text 5"/>
          <p:cNvSpPr txBox="1"/>
          <p:nvPr/>
        </p:nvSpPr>
        <p:spPr>
          <a:xfrm>
            <a:off x="640080" y="123444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600" lang="en-US"/>
          </a:p>
        </p:txBody>
      </p:sp>
      <p:sp>
        <p:nvSpPr>
          <p:cNvPr id="1048609" name="Text 6"/>
          <p:cNvSpPr txBox="1"/>
          <p:nvPr/>
        </p:nvSpPr>
        <p:spPr>
          <a:xfrm>
            <a:off x="1325880" y="1234440"/>
            <a:ext cx="71323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doubly linked list using structures and pointers</a:t>
            </a:r>
            <a:endParaRPr dirty="0" sz="1800" lang="en-US"/>
          </a:p>
        </p:txBody>
      </p:sp>
      <p:sp>
        <p:nvSpPr>
          <p:cNvPr id="1048610" name="Shape 7"/>
          <p:cNvSpPr/>
          <p:nvPr/>
        </p:nvSpPr>
        <p:spPr>
          <a:xfrm>
            <a:off x="640080" y="1911096"/>
            <a:ext cx="457200" cy="457200"/>
          </a:xfrm>
          <a:prstGeom prst="ellipse"/>
          <a:solidFill>
            <a:srgbClr val="FF5C8A"/>
          </a:solidFill>
        </p:spPr>
      </p:sp>
      <p:sp>
        <p:nvSpPr>
          <p:cNvPr id="1048611" name="Text 8"/>
          <p:cNvSpPr txBox="1"/>
          <p:nvPr/>
        </p:nvSpPr>
        <p:spPr>
          <a:xfrm>
            <a:off x="640080" y="1911096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600" lang="en-US"/>
          </a:p>
        </p:txBody>
      </p:sp>
      <p:sp>
        <p:nvSpPr>
          <p:cNvPr id="1048612" name="Text 9"/>
          <p:cNvSpPr txBox="1"/>
          <p:nvPr/>
        </p:nvSpPr>
        <p:spPr>
          <a:xfrm>
            <a:off x="1325880" y="1911096"/>
            <a:ext cx="71323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delete, display and search songs dynamically</a:t>
            </a:r>
            <a:endParaRPr dirty="0" sz="1800" lang="en-US"/>
          </a:p>
        </p:txBody>
      </p:sp>
      <p:sp>
        <p:nvSpPr>
          <p:cNvPr id="1048613" name="Shape 10"/>
          <p:cNvSpPr/>
          <p:nvPr/>
        </p:nvSpPr>
        <p:spPr>
          <a:xfrm>
            <a:off x="640080" y="2587752"/>
            <a:ext cx="457200" cy="457200"/>
          </a:xfrm>
          <a:prstGeom prst="ellipse"/>
          <a:solidFill>
            <a:srgbClr val="6C4DF6"/>
          </a:solidFill>
        </p:spPr>
      </p:sp>
      <p:sp>
        <p:nvSpPr>
          <p:cNvPr id="1048614" name="Text 11"/>
          <p:cNvSpPr txBox="1"/>
          <p:nvPr/>
        </p:nvSpPr>
        <p:spPr>
          <a:xfrm>
            <a:off x="640080" y="2587752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600" lang="en-US"/>
          </a:p>
        </p:txBody>
      </p:sp>
      <p:sp>
        <p:nvSpPr>
          <p:cNvPr id="1048615" name="Text 12"/>
          <p:cNvSpPr txBox="1"/>
          <p:nvPr/>
        </p:nvSpPr>
        <p:spPr>
          <a:xfrm>
            <a:off x="1325880" y="2587752"/>
            <a:ext cx="71323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playlist with Next and Previous</a:t>
            </a:r>
            <a:endParaRPr dirty="0" sz="1800" lang="en-US"/>
          </a:p>
        </p:txBody>
      </p:sp>
      <p:sp>
        <p:nvSpPr>
          <p:cNvPr id="1048616" name="Shape 13"/>
          <p:cNvSpPr/>
          <p:nvPr/>
        </p:nvSpPr>
        <p:spPr>
          <a:xfrm>
            <a:off x="640080" y="3264408"/>
            <a:ext cx="457200" cy="457200"/>
          </a:xfrm>
          <a:prstGeom prst="ellipse"/>
          <a:solidFill>
            <a:srgbClr val="FF5C8A"/>
          </a:solidFill>
        </p:spPr>
      </p:sp>
      <p:sp>
        <p:nvSpPr>
          <p:cNvPr id="1048617" name="Text 14"/>
          <p:cNvSpPr txBox="1"/>
          <p:nvPr/>
        </p:nvSpPr>
        <p:spPr>
          <a:xfrm>
            <a:off x="640080" y="3264408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600" lang="en-US"/>
          </a:p>
        </p:txBody>
      </p:sp>
      <p:sp>
        <p:nvSpPr>
          <p:cNvPr id="1048618" name="Text 15"/>
          <p:cNvSpPr txBox="1"/>
          <p:nvPr/>
        </p:nvSpPr>
        <p:spPr>
          <a:xfrm>
            <a:off x="1325880" y="3264408"/>
            <a:ext cx="71323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dynamic memory allocation (malloc / free) efficiently</a:t>
            </a:r>
            <a:endParaRPr dirty="0" sz="1800" lang="en-US"/>
          </a:p>
        </p:txBody>
      </p:sp>
      <p:sp>
        <p:nvSpPr>
          <p:cNvPr id="1048619" name="Shape 16"/>
          <p:cNvSpPr/>
          <p:nvPr/>
        </p:nvSpPr>
        <p:spPr>
          <a:xfrm>
            <a:off x="640080" y="3941064"/>
            <a:ext cx="457200" cy="457200"/>
          </a:xfrm>
          <a:prstGeom prst="ellipse"/>
          <a:solidFill>
            <a:srgbClr val="6C4DF6"/>
          </a:solidFill>
        </p:spPr>
      </p:sp>
      <p:sp>
        <p:nvSpPr>
          <p:cNvPr id="1048620" name="Text 17"/>
          <p:cNvSpPr txBox="1"/>
          <p:nvPr/>
        </p:nvSpPr>
        <p:spPr>
          <a:xfrm>
            <a:off x="640080" y="3941064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600" lang="en-US"/>
          </a:p>
        </p:txBody>
      </p:sp>
      <p:sp>
        <p:nvSpPr>
          <p:cNvPr id="1048621" name="Text 18"/>
          <p:cNvSpPr txBox="1"/>
          <p:nvPr/>
        </p:nvSpPr>
        <p:spPr>
          <a:xfrm>
            <a:off x="1325880" y="3941064"/>
            <a:ext cx="71323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menu-driven interface</a:t>
            </a:r>
            <a:endParaRPr dirty="0"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626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627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dirty="0" sz="2800" lang="en-US"/>
          </a:p>
        </p:txBody>
      </p:sp>
      <p:sp>
        <p:nvSpPr>
          <p:cNvPr id="1048628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5</a:t>
            </a:r>
            <a:endParaRPr dirty="0" sz="1400" lang="en-US"/>
          </a:p>
        </p:txBody>
      </p:sp>
      <p:sp>
        <p:nvSpPr>
          <p:cNvPr id="1048629" name="Text 4"/>
          <p:cNvSpPr txBox="1"/>
          <p:nvPr/>
        </p:nvSpPr>
        <p:spPr>
          <a:xfrm>
            <a:off x="640080" y="1280160"/>
            <a:ext cx="7863840" cy="219456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handled manually or with fixed-size arrays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limitations: size fixed in advance, memory wasted or overflow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need shifting of elements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way to move back and forth between songs without index handling</a:t>
            </a:r>
            <a:endParaRPr dirty="0" sz="1900" lang="en-US"/>
          </a:p>
        </p:txBody>
      </p:sp>
      <p:sp>
        <p:nvSpPr>
          <p:cNvPr id="1048630" name="Text 5"/>
          <p:cNvSpPr txBox="1"/>
          <p:nvPr/>
        </p:nvSpPr>
        <p:spPr>
          <a:xfrm>
            <a:off x="640080" y="3931920"/>
            <a:ext cx="78638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00" lang="en-US">
                <a:solidFill>
                  <a:srgbClr val="FF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rigid, slow updates, poor memory use</a:t>
            </a:r>
            <a:endParaRPr dirty="0" sz="16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635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636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dirty="0" sz="2800" lang="en-US"/>
          </a:p>
        </p:txBody>
      </p:sp>
      <p:sp>
        <p:nvSpPr>
          <p:cNvPr id="1048637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6</a:t>
            </a:r>
            <a:endParaRPr dirty="0" sz="1400" lang="en-US"/>
          </a:p>
        </p:txBody>
      </p:sp>
      <p:sp>
        <p:nvSpPr>
          <p:cNvPr id="1048638" name="Shape 4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639" name="Shape 5"/>
          <p:cNvSpPr/>
          <p:nvPr/>
        </p:nvSpPr>
        <p:spPr>
          <a:xfrm>
            <a:off x="731520" y="1417320"/>
            <a:ext cx="73152" cy="411480"/>
          </a:xfrm>
          <a:prstGeom prst="rect"/>
          <a:solidFill>
            <a:srgbClr val="6C4DF6"/>
          </a:solidFill>
        </p:spPr>
      </p:sp>
      <p:sp>
        <p:nvSpPr>
          <p:cNvPr id="1048640" name="Text 6"/>
          <p:cNvSpPr txBox="1"/>
          <p:nvPr/>
        </p:nvSpPr>
        <p:spPr>
          <a:xfrm>
            <a:off x="914400" y="1389888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dirty="0" sz="1600" lang="en-US"/>
          </a:p>
        </p:txBody>
      </p:sp>
      <p:sp>
        <p:nvSpPr>
          <p:cNvPr id="1048641" name="Text 7"/>
          <p:cNvSpPr txBox="1"/>
          <p:nvPr/>
        </p:nvSpPr>
        <p:spPr>
          <a:xfrm>
            <a:off x="731520" y="1920240"/>
            <a:ext cx="35661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holds song name, artist, and prev / next pointers.</a:t>
            </a:r>
            <a:endParaRPr dirty="0" sz="1250" lang="en-US"/>
          </a:p>
        </p:txBody>
      </p:sp>
      <p:sp>
        <p:nvSpPr>
          <p:cNvPr id="1048642" name="Shape 8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643" name="Shape 9"/>
          <p:cNvSpPr/>
          <p:nvPr/>
        </p:nvSpPr>
        <p:spPr>
          <a:xfrm>
            <a:off x="4846320" y="1417320"/>
            <a:ext cx="73152" cy="411480"/>
          </a:xfrm>
          <a:prstGeom prst="rect"/>
          <a:solidFill>
            <a:srgbClr val="FF5C8A"/>
          </a:solidFill>
        </p:spPr>
      </p:sp>
      <p:sp>
        <p:nvSpPr>
          <p:cNvPr id="1048644" name="Text 10"/>
          <p:cNvSpPr txBox="1"/>
          <p:nvPr/>
        </p:nvSpPr>
        <p:spPr>
          <a:xfrm>
            <a:off x="5029200" y="1389888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</a:t>
            </a:r>
            <a:endParaRPr dirty="0" sz="1600" lang="en-US"/>
          </a:p>
        </p:txBody>
      </p:sp>
      <p:sp>
        <p:nvSpPr>
          <p:cNvPr id="1048645" name="Text 11"/>
          <p:cNvSpPr txBox="1"/>
          <p:nvPr/>
        </p:nvSpPr>
        <p:spPr>
          <a:xfrm>
            <a:off x="4846320" y="1920240"/>
            <a:ext cx="35661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created with malloc and released with free. No size limit.</a:t>
            </a:r>
            <a:endParaRPr dirty="0" sz="1250" lang="en-US"/>
          </a:p>
        </p:txBody>
      </p:sp>
      <p:sp>
        <p:nvSpPr>
          <p:cNvPr id="1048646" name="Shape 12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647" name="Shape 13"/>
          <p:cNvSpPr/>
          <p:nvPr/>
        </p:nvSpPr>
        <p:spPr>
          <a:xfrm>
            <a:off x="731520" y="3063240"/>
            <a:ext cx="73152" cy="411480"/>
          </a:xfrm>
          <a:prstGeom prst="rect"/>
          <a:solidFill>
            <a:srgbClr val="FF5C8A"/>
          </a:solidFill>
        </p:spPr>
      </p:sp>
      <p:sp>
        <p:nvSpPr>
          <p:cNvPr id="1048648" name="Text 14"/>
          <p:cNvSpPr txBox="1"/>
          <p:nvPr/>
        </p:nvSpPr>
        <p:spPr>
          <a:xfrm>
            <a:off x="914400" y="3035808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Updates</a:t>
            </a:r>
            <a:endParaRPr dirty="0" sz="1600" lang="en-US"/>
          </a:p>
        </p:txBody>
      </p:sp>
      <p:sp>
        <p:nvSpPr>
          <p:cNvPr id="1048649" name="Text 15"/>
          <p:cNvSpPr txBox="1"/>
          <p:nvPr/>
        </p:nvSpPr>
        <p:spPr>
          <a:xfrm>
            <a:off x="731520" y="3566160"/>
            <a:ext cx="35661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delete by changing pointers. No shifting needed.</a:t>
            </a:r>
            <a:endParaRPr dirty="0" sz="1250" lang="en-US"/>
          </a:p>
        </p:txBody>
      </p:sp>
      <p:sp>
        <p:nvSpPr>
          <p:cNvPr id="1048650" name="Shape 16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651" name="Shape 17"/>
          <p:cNvSpPr/>
          <p:nvPr/>
        </p:nvSpPr>
        <p:spPr>
          <a:xfrm>
            <a:off x="4846320" y="3063240"/>
            <a:ext cx="73152" cy="411480"/>
          </a:xfrm>
          <a:prstGeom prst="rect"/>
          <a:solidFill>
            <a:srgbClr val="6C4DF6"/>
          </a:solidFill>
        </p:spPr>
      </p:sp>
      <p:sp>
        <p:nvSpPr>
          <p:cNvPr id="1048652" name="Text 18"/>
          <p:cNvSpPr txBox="1"/>
          <p:nvPr/>
        </p:nvSpPr>
        <p:spPr>
          <a:xfrm>
            <a:off x="5029200" y="3035808"/>
            <a:ext cx="347472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Navigation</a:t>
            </a:r>
            <a:endParaRPr dirty="0" sz="1600" lang="en-US"/>
          </a:p>
        </p:txBody>
      </p:sp>
      <p:sp>
        <p:nvSpPr>
          <p:cNvPr id="1048653" name="Text 19"/>
          <p:cNvSpPr txBox="1"/>
          <p:nvPr/>
        </p:nvSpPr>
        <p:spPr>
          <a:xfrm>
            <a:off x="4846320" y="3566160"/>
            <a:ext cx="35661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and next pointers give O(1) Next and Previous moves.</a:t>
            </a:r>
            <a:endParaRPr dirty="0" sz="12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658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659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dirty="0" sz="2800" lang="en-US"/>
          </a:p>
        </p:txBody>
      </p:sp>
      <p:sp>
        <p:nvSpPr>
          <p:cNvPr id="1048660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7</a:t>
            </a:r>
            <a:endParaRPr dirty="0" sz="1400" lang="en-US"/>
          </a:p>
        </p:txBody>
      </p:sp>
      <p:sp>
        <p:nvSpPr>
          <p:cNvPr id="1048661" name="Shape 4"/>
          <p:cNvSpPr/>
          <p:nvPr/>
        </p:nvSpPr>
        <p:spPr>
          <a:xfrm>
            <a:off x="640080" y="123444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DDD8FF"/>
            </a:solidFill>
            <a:prstDash val="solid"/>
          </a:ln>
        </p:spPr>
      </p:sp>
      <p:sp>
        <p:nvSpPr>
          <p:cNvPr id="1048662" name="Text 5"/>
          <p:cNvSpPr txBox="1"/>
          <p:nvPr/>
        </p:nvSpPr>
        <p:spPr>
          <a:xfrm>
            <a:off x="868680" y="1234440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dirty="0" sz="1600" lang="en-US"/>
          </a:p>
        </p:txBody>
      </p:sp>
      <p:sp>
        <p:nvSpPr>
          <p:cNvPr id="1048663" name="Text 6"/>
          <p:cNvSpPr txBox="1"/>
          <p:nvPr/>
        </p:nvSpPr>
        <p:spPr>
          <a:xfrm>
            <a:off x="3657600" y="1234440"/>
            <a:ext cx="4754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dirty="0" sz="1600" lang="en-US"/>
          </a:p>
        </p:txBody>
      </p:sp>
      <p:sp>
        <p:nvSpPr>
          <p:cNvPr id="1048664" name="Shape 7"/>
          <p:cNvSpPr/>
          <p:nvPr/>
        </p:nvSpPr>
        <p:spPr>
          <a:xfrm>
            <a:off x="640080" y="1892808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8FF"/>
            </a:solidFill>
            <a:prstDash val="solid"/>
          </a:ln>
        </p:spPr>
      </p:sp>
      <p:sp>
        <p:nvSpPr>
          <p:cNvPr id="1048665" name="Text 8"/>
          <p:cNvSpPr txBox="1"/>
          <p:nvPr/>
        </p:nvSpPr>
        <p:spPr>
          <a:xfrm>
            <a:off x="868680" y="1892808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dirty="0" sz="1600" lang="en-US"/>
          </a:p>
        </p:txBody>
      </p:sp>
      <p:sp>
        <p:nvSpPr>
          <p:cNvPr id="1048666" name="Text 9"/>
          <p:cNvSpPr txBox="1"/>
          <p:nvPr/>
        </p:nvSpPr>
        <p:spPr>
          <a:xfrm>
            <a:off x="3657600" y="1892808"/>
            <a:ext cx="4754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dirty="0" sz="1600" lang="en-US"/>
          </a:p>
        </p:txBody>
      </p:sp>
      <p:sp>
        <p:nvSpPr>
          <p:cNvPr id="1048667" name="Shape 10"/>
          <p:cNvSpPr/>
          <p:nvPr/>
        </p:nvSpPr>
        <p:spPr>
          <a:xfrm>
            <a:off x="640080" y="2551176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DDD8FF"/>
            </a:solidFill>
            <a:prstDash val="solid"/>
          </a:ln>
        </p:spPr>
      </p:sp>
      <p:sp>
        <p:nvSpPr>
          <p:cNvPr id="1048668" name="Text 11"/>
          <p:cNvSpPr txBox="1"/>
          <p:nvPr/>
        </p:nvSpPr>
        <p:spPr>
          <a:xfrm>
            <a:off x="868680" y="2551176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dirty="0" sz="1600" lang="en-US"/>
          </a:p>
        </p:txBody>
      </p:sp>
      <p:sp>
        <p:nvSpPr>
          <p:cNvPr id="1048669" name="Text 12"/>
          <p:cNvSpPr txBox="1"/>
          <p:nvPr/>
        </p:nvSpPr>
        <p:spPr>
          <a:xfrm>
            <a:off x="3657600" y="2551176"/>
            <a:ext cx="4754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stdio.h, stdlib.h, string.h</a:t>
            </a:r>
            <a:endParaRPr dirty="0" sz="1600" lang="en-US"/>
          </a:p>
        </p:txBody>
      </p:sp>
      <p:sp>
        <p:nvSpPr>
          <p:cNvPr id="1048670" name="Shape 13"/>
          <p:cNvSpPr/>
          <p:nvPr/>
        </p:nvSpPr>
        <p:spPr>
          <a:xfrm>
            <a:off x="640080" y="3209544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D8FF"/>
            </a:solidFill>
            <a:prstDash val="solid"/>
          </a:ln>
        </p:spPr>
      </p:sp>
      <p:sp>
        <p:nvSpPr>
          <p:cNvPr id="1048671" name="Text 14"/>
          <p:cNvSpPr txBox="1"/>
          <p:nvPr/>
        </p:nvSpPr>
        <p:spPr>
          <a:xfrm>
            <a:off x="868680" y="3209544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Compiler</a:t>
            </a:r>
            <a:endParaRPr dirty="0" sz="1600" lang="en-US"/>
          </a:p>
        </p:txBody>
      </p:sp>
      <p:sp>
        <p:nvSpPr>
          <p:cNvPr id="1048672" name="Text 15"/>
          <p:cNvSpPr txBox="1"/>
          <p:nvPr/>
        </p:nvSpPr>
        <p:spPr>
          <a:xfrm>
            <a:off x="3657600" y="3209544"/>
            <a:ext cx="4754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Code::Blocks / GCC</a:t>
            </a:r>
            <a:endParaRPr dirty="0" sz="1600" lang="en-US"/>
          </a:p>
        </p:txBody>
      </p:sp>
      <p:sp>
        <p:nvSpPr>
          <p:cNvPr id="1048673" name="Shape 16"/>
          <p:cNvSpPr/>
          <p:nvPr/>
        </p:nvSpPr>
        <p:spPr>
          <a:xfrm>
            <a:off x="640080" y="3867912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12700">
            <a:solidFill>
              <a:srgbClr val="DDD8FF"/>
            </a:solidFill>
            <a:prstDash val="solid"/>
          </a:ln>
        </p:spPr>
      </p:sp>
      <p:sp>
        <p:nvSpPr>
          <p:cNvPr id="1048674" name="Text 17"/>
          <p:cNvSpPr txBox="1"/>
          <p:nvPr/>
        </p:nvSpPr>
        <p:spPr>
          <a:xfrm>
            <a:off x="868680" y="3867912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dirty="0" sz="1600" lang="en-US"/>
          </a:p>
        </p:txBody>
      </p:sp>
      <p:sp>
        <p:nvSpPr>
          <p:cNvPr id="1048675" name="Text 18"/>
          <p:cNvSpPr txBox="1"/>
          <p:nvPr/>
        </p:nvSpPr>
        <p:spPr>
          <a:xfrm>
            <a:off x="3657600" y="3867912"/>
            <a:ext cx="475488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(no database)</a:t>
            </a:r>
            <a:endParaRPr dirty="0" sz="16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680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681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of the Project</a:t>
            </a:r>
            <a:endParaRPr dirty="0" sz="2800" lang="en-US"/>
          </a:p>
        </p:txBody>
      </p:sp>
      <p:sp>
        <p:nvSpPr>
          <p:cNvPr id="1048682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8</a:t>
            </a:r>
            <a:endParaRPr dirty="0" sz="1400" lang="en-US"/>
          </a:p>
        </p:txBody>
      </p:sp>
      <p:sp>
        <p:nvSpPr>
          <p:cNvPr id="1048683" name="Shape 4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684" name="Shape 5"/>
          <p:cNvSpPr/>
          <p:nvPr/>
        </p:nvSpPr>
        <p:spPr>
          <a:xfrm>
            <a:off x="640080" y="1371600"/>
            <a:ext cx="73152" cy="411480"/>
          </a:xfrm>
          <a:prstGeom prst="rect"/>
          <a:solidFill>
            <a:srgbClr val="6C4DF6"/>
          </a:solidFill>
        </p:spPr>
      </p:sp>
      <p:sp>
        <p:nvSpPr>
          <p:cNvPr id="1048685" name="Text 6"/>
          <p:cNvSpPr txBox="1"/>
          <p:nvPr/>
        </p:nvSpPr>
        <p:spPr>
          <a:xfrm>
            <a:off x="822960" y="134416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Song</a:t>
            </a:r>
            <a:endParaRPr dirty="0" sz="1600" lang="en-US"/>
          </a:p>
        </p:txBody>
      </p:sp>
      <p:sp>
        <p:nvSpPr>
          <p:cNvPr id="1048686" name="Text 7"/>
          <p:cNvSpPr txBox="1"/>
          <p:nvPr/>
        </p:nvSpPr>
        <p:spPr>
          <a:xfrm>
            <a:off x="640080" y="187452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node, appends at tail. O(n)</a:t>
            </a:r>
            <a:endParaRPr dirty="0" sz="1250" lang="en-US"/>
          </a:p>
        </p:txBody>
      </p:sp>
      <p:sp>
        <p:nvSpPr>
          <p:cNvPr id="1048687" name="Shape 8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688" name="Shape 9"/>
          <p:cNvSpPr/>
          <p:nvPr/>
        </p:nvSpPr>
        <p:spPr>
          <a:xfrm>
            <a:off x="3474720" y="1371600"/>
            <a:ext cx="73152" cy="411480"/>
          </a:xfrm>
          <a:prstGeom prst="rect"/>
          <a:solidFill>
            <a:srgbClr val="FF5C8A"/>
          </a:solidFill>
        </p:spPr>
      </p:sp>
      <p:sp>
        <p:nvSpPr>
          <p:cNvPr id="1048689" name="Text 10"/>
          <p:cNvSpPr txBox="1"/>
          <p:nvPr/>
        </p:nvSpPr>
        <p:spPr>
          <a:xfrm>
            <a:off x="3657600" y="134416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Song</a:t>
            </a:r>
            <a:endParaRPr dirty="0" sz="1600" lang="en-US"/>
          </a:p>
        </p:txBody>
      </p:sp>
      <p:sp>
        <p:nvSpPr>
          <p:cNvPr id="1048690" name="Text 11"/>
          <p:cNvSpPr txBox="1"/>
          <p:nvPr/>
        </p:nvSpPr>
        <p:spPr>
          <a:xfrm>
            <a:off x="3474720" y="187452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name, relinks, frees. O(n)</a:t>
            </a:r>
            <a:endParaRPr dirty="0" sz="1250" lang="en-US"/>
          </a:p>
        </p:txBody>
      </p:sp>
      <p:sp>
        <p:nvSpPr>
          <p:cNvPr id="1048691" name="Shape 12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692" name="Shape 13"/>
          <p:cNvSpPr/>
          <p:nvPr/>
        </p:nvSpPr>
        <p:spPr>
          <a:xfrm>
            <a:off x="6309360" y="1371600"/>
            <a:ext cx="73152" cy="411480"/>
          </a:xfrm>
          <a:prstGeom prst="rect"/>
          <a:solidFill>
            <a:srgbClr val="6C4DF6"/>
          </a:solidFill>
        </p:spPr>
      </p:sp>
      <p:sp>
        <p:nvSpPr>
          <p:cNvPr id="1048693" name="Text 14"/>
          <p:cNvSpPr txBox="1"/>
          <p:nvPr/>
        </p:nvSpPr>
        <p:spPr>
          <a:xfrm>
            <a:off x="6492240" y="134416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Playlist</a:t>
            </a:r>
            <a:endParaRPr dirty="0" sz="1600" lang="en-US"/>
          </a:p>
        </p:txBody>
      </p:sp>
      <p:sp>
        <p:nvSpPr>
          <p:cNvPr id="1048694" name="Text 15"/>
          <p:cNvSpPr txBox="1"/>
          <p:nvPr/>
        </p:nvSpPr>
        <p:spPr>
          <a:xfrm>
            <a:off x="6309360" y="187452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head to tail</a:t>
            </a:r>
            <a:endParaRPr dirty="0" sz="1250" lang="en-US"/>
          </a:p>
        </p:txBody>
      </p:sp>
      <p:sp>
        <p:nvSpPr>
          <p:cNvPr id="1048695" name="Shape 16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696" name="Shape 17"/>
          <p:cNvSpPr/>
          <p:nvPr/>
        </p:nvSpPr>
        <p:spPr>
          <a:xfrm>
            <a:off x="640080" y="3108960"/>
            <a:ext cx="73152" cy="411480"/>
          </a:xfrm>
          <a:prstGeom prst="rect"/>
          <a:solidFill>
            <a:srgbClr val="FF5C8A"/>
          </a:solidFill>
        </p:spPr>
      </p:sp>
      <p:sp>
        <p:nvSpPr>
          <p:cNvPr id="1048697" name="Text 18"/>
          <p:cNvSpPr txBox="1"/>
          <p:nvPr/>
        </p:nvSpPr>
        <p:spPr>
          <a:xfrm>
            <a:off x="822960" y="308152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Song</a:t>
            </a:r>
            <a:endParaRPr dirty="0" sz="1600" lang="en-US"/>
          </a:p>
        </p:txBody>
      </p:sp>
      <p:sp>
        <p:nvSpPr>
          <p:cNvPr id="1048698" name="Text 19"/>
          <p:cNvSpPr txBox="1"/>
          <p:nvPr/>
        </p:nvSpPr>
        <p:spPr>
          <a:xfrm>
            <a:off x="640080" y="361188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by name. O(n)</a:t>
            </a:r>
            <a:endParaRPr dirty="0" sz="1250" lang="en-US"/>
          </a:p>
        </p:txBody>
      </p:sp>
      <p:sp>
        <p:nvSpPr>
          <p:cNvPr id="1048699" name="Shape 20"/>
          <p:cNvSpPr/>
          <p:nvPr/>
        </p:nvSpPr>
        <p:spPr>
          <a:xfrm>
            <a:off x="329184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700" name="Shape 21"/>
          <p:cNvSpPr/>
          <p:nvPr/>
        </p:nvSpPr>
        <p:spPr>
          <a:xfrm>
            <a:off x="3474720" y="3108960"/>
            <a:ext cx="73152" cy="411480"/>
          </a:xfrm>
          <a:prstGeom prst="rect"/>
          <a:solidFill>
            <a:srgbClr val="6C4DF6"/>
          </a:solidFill>
        </p:spPr>
      </p:sp>
      <p:sp>
        <p:nvSpPr>
          <p:cNvPr id="1048701" name="Text 22"/>
          <p:cNvSpPr txBox="1"/>
          <p:nvPr/>
        </p:nvSpPr>
        <p:spPr>
          <a:xfrm>
            <a:off x="3657600" y="308152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Current</a:t>
            </a:r>
            <a:endParaRPr dirty="0" sz="1600" lang="en-US"/>
          </a:p>
        </p:txBody>
      </p:sp>
      <p:sp>
        <p:nvSpPr>
          <p:cNvPr id="1048702" name="Text 23"/>
          <p:cNvSpPr txBox="1"/>
          <p:nvPr/>
        </p:nvSpPr>
        <p:spPr>
          <a:xfrm>
            <a:off x="3474720" y="361188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current song</a:t>
            </a:r>
            <a:endParaRPr dirty="0" sz="1250" lang="en-US"/>
          </a:p>
        </p:txBody>
      </p:sp>
      <p:sp>
        <p:nvSpPr>
          <p:cNvPr id="1048703" name="Shape 24"/>
          <p:cNvSpPr/>
          <p:nvPr/>
        </p:nvSpPr>
        <p:spPr>
          <a:xfrm>
            <a:off x="6126480" y="297180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704" name="Shape 25"/>
          <p:cNvSpPr/>
          <p:nvPr/>
        </p:nvSpPr>
        <p:spPr>
          <a:xfrm>
            <a:off x="6309360" y="3108960"/>
            <a:ext cx="73152" cy="411480"/>
          </a:xfrm>
          <a:prstGeom prst="rect"/>
          <a:solidFill>
            <a:srgbClr val="FF5C8A"/>
          </a:solidFill>
        </p:spPr>
      </p:sp>
      <p:sp>
        <p:nvSpPr>
          <p:cNvPr id="1048705" name="Text 26"/>
          <p:cNvSpPr txBox="1"/>
          <p:nvPr/>
        </p:nvSpPr>
        <p:spPr>
          <a:xfrm>
            <a:off x="6492240" y="3081528"/>
            <a:ext cx="219456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/ Previous</a:t>
            </a:r>
            <a:endParaRPr dirty="0" sz="1600" lang="en-US"/>
          </a:p>
        </p:txBody>
      </p:sp>
      <p:sp>
        <p:nvSpPr>
          <p:cNvPr id="1048706" name="Text 27"/>
          <p:cNvSpPr txBox="1"/>
          <p:nvPr/>
        </p:nvSpPr>
        <p:spPr>
          <a:xfrm>
            <a:off x="6309360" y="3611880"/>
            <a:ext cx="22860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current pointer. O(1)</a:t>
            </a:r>
            <a:endParaRPr dirty="0" sz="125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711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712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dirty="0" sz="2800" lang="en-US"/>
          </a:p>
        </p:txBody>
      </p:sp>
      <p:sp>
        <p:nvSpPr>
          <p:cNvPr id="1048713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9</a:t>
            </a:r>
            <a:endParaRPr dirty="0" sz="1400" lang="en-US"/>
          </a:p>
        </p:txBody>
      </p:sp>
      <p:sp>
        <p:nvSpPr>
          <p:cNvPr id="1048714" name="Shape 4"/>
          <p:cNvSpPr/>
          <p:nvPr/>
        </p:nvSpPr>
        <p:spPr>
          <a:xfrm>
            <a:off x="365760" y="2331720"/>
            <a:ext cx="1005840" cy="502920"/>
          </a:xfrm>
          <a:prstGeom prst="roundRect"/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48715" name="Text 5"/>
          <p:cNvSpPr txBox="1"/>
          <p:nvPr/>
        </p:nvSpPr>
        <p:spPr>
          <a:xfrm>
            <a:off x="365760" y="2331720"/>
            <a:ext cx="1005840" cy="502920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dirty="0" sz="1100" lang="en-US"/>
          </a:p>
        </p:txBody>
      </p:sp>
      <p:sp>
        <p:nvSpPr>
          <p:cNvPr id="1048716" name="Shape 6"/>
          <p:cNvSpPr/>
          <p:nvPr/>
        </p:nvSpPr>
        <p:spPr>
          <a:xfrm>
            <a:off x="1371600" y="2583180"/>
            <a:ext cx="36576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17" name="Shape 7"/>
          <p:cNvSpPr/>
          <p:nvPr/>
        </p:nvSpPr>
        <p:spPr>
          <a:xfrm>
            <a:off x="1737360" y="2148840"/>
            <a:ext cx="1463040" cy="868680"/>
          </a:xfrm>
          <a:prstGeom prst="parallelogram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18" name="Text 8"/>
          <p:cNvSpPr txBox="1"/>
          <p:nvPr/>
        </p:nvSpPr>
        <p:spPr>
          <a:xfrm>
            <a:off x="1737360" y="2148840"/>
            <a:ext cx="1463040" cy="868680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 &amp; Read Choice</a:t>
            </a:r>
            <a:endParaRPr dirty="0" sz="1100" lang="en-US"/>
          </a:p>
        </p:txBody>
      </p:sp>
      <p:sp>
        <p:nvSpPr>
          <p:cNvPr id="1048719" name="Shape 9"/>
          <p:cNvSpPr/>
          <p:nvPr/>
        </p:nvSpPr>
        <p:spPr>
          <a:xfrm>
            <a:off x="3200400" y="2583180"/>
            <a:ext cx="36576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20" name="Shape 10"/>
          <p:cNvSpPr/>
          <p:nvPr/>
        </p:nvSpPr>
        <p:spPr>
          <a:xfrm>
            <a:off x="3566160" y="2103120"/>
            <a:ext cx="1371600" cy="960120"/>
          </a:xfrm>
          <a:prstGeom prst="diamond"/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048721" name="Text 11"/>
          <p:cNvSpPr txBox="1"/>
          <p:nvPr/>
        </p:nvSpPr>
        <p:spPr>
          <a:xfrm>
            <a:off x="3566160" y="2103120"/>
            <a:ext cx="1371600" cy="960120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Choice?</a:t>
            </a:r>
            <a:endParaRPr dirty="0" sz="1100" lang="en-US"/>
          </a:p>
        </p:txBody>
      </p:sp>
      <p:sp>
        <p:nvSpPr>
          <p:cNvPr id="1048722" name="Shape 12"/>
          <p:cNvSpPr/>
          <p:nvPr/>
        </p:nvSpPr>
        <p:spPr>
          <a:xfrm>
            <a:off x="5577840" y="1051560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23" name="Text 13"/>
          <p:cNvSpPr txBox="1"/>
          <p:nvPr/>
        </p:nvSpPr>
        <p:spPr>
          <a:xfrm>
            <a:off x="5577840" y="1051560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Add</a:t>
            </a:r>
            <a:endParaRPr dirty="0" sz="1100" lang="en-US"/>
          </a:p>
        </p:txBody>
      </p:sp>
      <p:sp>
        <p:nvSpPr>
          <p:cNvPr id="1048724" name="Shape 14"/>
          <p:cNvSpPr/>
          <p:nvPr/>
        </p:nvSpPr>
        <p:spPr>
          <a:xfrm flipV="1">
            <a:off x="4937760" y="1243584"/>
            <a:ext cx="640080" cy="1339596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25" name="Shape 15"/>
          <p:cNvSpPr/>
          <p:nvPr/>
        </p:nvSpPr>
        <p:spPr>
          <a:xfrm>
            <a:off x="6949440" y="1243584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26" name="Shape 16"/>
          <p:cNvSpPr/>
          <p:nvPr/>
        </p:nvSpPr>
        <p:spPr>
          <a:xfrm>
            <a:off x="5577840" y="1572768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27" name="Text 17"/>
          <p:cNvSpPr txBox="1"/>
          <p:nvPr/>
        </p:nvSpPr>
        <p:spPr>
          <a:xfrm>
            <a:off x="5577840" y="1572768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Delete</a:t>
            </a:r>
            <a:endParaRPr dirty="0" sz="1100" lang="en-US"/>
          </a:p>
        </p:txBody>
      </p:sp>
      <p:sp>
        <p:nvSpPr>
          <p:cNvPr id="1048728" name="Shape 18"/>
          <p:cNvSpPr/>
          <p:nvPr/>
        </p:nvSpPr>
        <p:spPr>
          <a:xfrm flipV="1">
            <a:off x="4937760" y="1764792"/>
            <a:ext cx="640080" cy="818388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29" name="Shape 19"/>
          <p:cNvSpPr/>
          <p:nvPr/>
        </p:nvSpPr>
        <p:spPr>
          <a:xfrm>
            <a:off x="6949440" y="1764792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30" name="Shape 20"/>
          <p:cNvSpPr/>
          <p:nvPr/>
        </p:nvSpPr>
        <p:spPr>
          <a:xfrm>
            <a:off x="5577840" y="2093976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31" name="Text 21"/>
          <p:cNvSpPr txBox="1"/>
          <p:nvPr/>
        </p:nvSpPr>
        <p:spPr>
          <a:xfrm>
            <a:off x="5577840" y="2093976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Display</a:t>
            </a:r>
            <a:endParaRPr dirty="0" sz="1100" lang="en-US"/>
          </a:p>
        </p:txBody>
      </p:sp>
      <p:sp>
        <p:nvSpPr>
          <p:cNvPr id="1048732" name="Shape 22"/>
          <p:cNvSpPr/>
          <p:nvPr/>
        </p:nvSpPr>
        <p:spPr>
          <a:xfrm flipV="1">
            <a:off x="4937760" y="2286000"/>
            <a:ext cx="640080" cy="29718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33" name="Shape 23"/>
          <p:cNvSpPr/>
          <p:nvPr/>
        </p:nvSpPr>
        <p:spPr>
          <a:xfrm>
            <a:off x="6949440" y="2286000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34" name="Shape 24"/>
          <p:cNvSpPr/>
          <p:nvPr/>
        </p:nvSpPr>
        <p:spPr>
          <a:xfrm>
            <a:off x="5577840" y="2615184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35" name="Text 25"/>
          <p:cNvSpPr txBox="1"/>
          <p:nvPr/>
        </p:nvSpPr>
        <p:spPr>
          <a:xfrm>
            <a:off x="5577840" y="2615184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Search</a:t>
            </a:r>
            <a:endParaRPr dirty="0" sz="1100" lang="en-US"/>
          </a:p>
        </p:txBody>
      </p:sp>
      <p:sp>
        <p:nvSpPr>
          <p:cNvPr id="1048736" name="Shape 26"/>
          <p:cNvSpPr/>
          <p:nvPr/>
        </p:nvSpPr>
        <p:spPr>
          <a:xfrm>
            <a:off x="4937760" y="2583180"/>
            <a:ext cx="640080" cy="224028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37" name="Shape 27"/>
          <p:cNvSpPr/>
          <p:nvPr/>
        </p:nvSpPr>
        <p:spPr>
          <a:xfrm>
            <a:off x="6949440" y="2807208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38" name="Shape 28"/>
          <p:cNvSpPr/>
          <p:nvPr/>
        </p:nvSpPr>
        <p:spPr>
          <a:xfrm>
            <a:off x="5577840" y="3136392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39" name="Text 29"/>
          <p:cNvSpPr txBox="1"/>
          <p:nvPr/>
        </p:nvSpPr>
        <p:spPr>
          <a:xfrm>
            <a:off x="5577840" y="3136392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Play</a:t>
            </a:r>
            <a:endParaRPr dirty="0" sz="1100" lang="en-US"/>
          </a:p>
        </p:txBody>
      </p:sp>
      <p:sp>
        <p:nvSpPr>
          <p:cNvPr id="1048740" name="Shape 30"/>
          <p:cNvSpPr/>
          <p:nvPr/>
        </p:nvSpPr>
        <p:spPr>
          <a:xfrm>
            <a:off x="4937760" y="2583180"/>
            <a:ext cx="640080" cy="745236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41" name="Shape 31"/>
          <p:cNvSpPr/>
          <p:nvPr/>
        </p:nvSpPr>
        <p:spPr>
          <a:xfrm>
            <a:off x="6949440" y="3328416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42" name="Shape 32"/>
          <p:cNvSpPr/>
          <p:nvPr/>
        </p:nvSpPr>
        <p:spPr>
          <a:xfrm>
            <a:off x="5577840" y="3657600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43" name="Text 33"/>
          <p:cNvSpPr txBox="1"/>
          <p:nvPr/>
        </p:nvSpPr>
        <p:spPr>
          <a:xfrm>
            <a:off x="5577840" y="3657600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Next</a:t>
            </a:r>
            <a:endParaRPr dirty="0" sz="1100" lang="en-US"/>
          </a:p>
        </p:txBody>
      </p:sp>
      <p:sp>
        <p:nvSpPr>
          <p:cNvPr id="1048744" name="Shape 34"/>
          <p:cNvSpPr/>
          <p:nvPr/>
        </p:nvSpPr>
        <p:spPr>
          <a:xfrm>
            <a:off x="4937760" y="2583180"/>
            <a:ext cx="640080" cy="1266444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45" name="Shape 35"/>
          <p:cNvSpPr/>
          <p:nvPr/>
        </p:nvSpPr>
        <p:spPr>
          <a:xfrm>
            <a:off x="6949440" y="3849624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46" name="Shape 36"/>
          <p:cNvSpPr/>
          <p:nvPr/>
        </p:nvSpPr>
        <p:spPr>
          <a:xfrm>
            <a:off x="5577840" y="4178808"/>
            <a:ext cx="1371600" cy="384048"/>
          </a:xfrm>
          <a:prstGeom prst="rect"/>
          <a:solidFill>
            <a:srgbClr val="6C4DF6"/>
          </a:solidFill>
          <a:ln w="12700">
            <a:solidFill>
              <a:srgbClr val="6C4DF6"/>
            </a:solidFill>
            <a:prstDash val="solid"/>
          </a:ln>
        </p:spPr>
      </p:sp>
      <p:sp>
        <p:nvSpPr>
          <p:cNvPr id="1048747" name="Text 37"/>
          <p:cNvSpPr txBox="1"/>
          <p:nvPr/>
        </p:nvSpPr>
        <p:spPr>
          <a:xfrm>
            <a:off x="5577840" y="4178808"/>
            <a:ext cx="1371600" cy="384048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Prev</a:t>
            </a:r>
            <a:endParaRPr dirty="0" sz="1100" lang="en-US"/>
          </a:p>
        </p:txBody>
      </p:sp>
      <p:sp>
        <p:nvSpPr>
          <p:cNvPr id="1048748" name="Shape 38"/>
          <p:cNvSpPr/>
          <p:nvPr/>
        </p:nvSpPr>
        <p:spPr>
          <a:xfrm>
            <a:off x="4937760" y="2583180"/>
            <a:ext cx="640080" cy="1787652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49" name="Shape 39"/>
          <p:cNvSpPr/>
          <p:nvPr/>
        </p:nvSpPr>
        <p:spPr>
          <a:xfrm>
            <a:off x="6949440" y="4370832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50" name="Shape 40"/>
          <p:cNvSpPr/>
          <p:nvPr/>
        </p:nvSpPr>
        <p:spPr>
          <a:xfrm>
            <a:off x="7269480" y="1243584"/>
            <a:ext cx="0" cy="3127248"/>
          </a:xfrm>
          <a:prstGeom prst="line"/>
          <a:noFill/>
          <a:ln w="19050">
            <a:solidFill>
              <a:srgbClr val="6B6F85"/>
            </a:solidFill>
            <a:prstDash val="solid"/>
          </a:ln>
        </p:spPr>
      </p:sp>
      <p:sp>
        <p:nvSpPr>
          <p:cNvPr id="1048751" name="Shape 41"/>
          <p:cNvSpPr/>
          <p:nvPr/>
        </p:nvSpPr>
        <p:spPr>
          <a:xfrm>
            <a:off x="7269480" y="2743200"/>
            <a:ext cx="320040" cy="0"/>
          </a:xfrm>
          <a:prstGeom prst="line"/>
          <a:noFill/>
          <a:ln w="19050">
            <a:solidFill>
              <a:srgbClr val="6B6F85"/>
            </a:solidFill>
            <a:prstDash val="solid"/>
            <a:tailEnd type="triangle"/>
          </a:ln>
        </p:spPr>
      </p:sp>
      <p:sp>
        <p:nvSpPr>
          <p:cNvPr id="1048752" name="Shape 42"/>
          <p:cNvSpPr/>
          <p:nvPr/>
        </p:nvSpPr>
        <p:spPr>
          <a:xfrm>
            <a:off x="7589520" y="2468880"/>
            <a:ext cx="1188720" cy="548640"/>
          </a:xfrm>
          <a:prstGeom prst="rect"/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48753" name="Text 43"/>
          <p:cNvSpPr txBox="1"/>
          <p:nvPr/>
        </p:nvSpPr>
        <p:spPr>
          <a:xfrm>
            <a:off x="7589520" y="2468880"/>
            <a:ext cx="1188720" cy="548640"/>
          </a:xfrm>
          <a:prstGeom prst="rect"/>
          <a:noFill/>
        </p:spPr>
        <p:txBody>
          <a:bodyPr anchor="ctr" bIns="381" lIns="381" rIns="381" rtlCol="0" tIns="381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Menu</a:t>
            </a:r>
            <a:endParaRPr dirty="0" sz="1100" lang="en-US"/>
          </a:p>
        </p:txBody>
      </p:sp>
      <p:sp>
        <p:nvSpPr>
          <p:cNvPr id="1048754" name="Text 44"/>
          <p:cNvSpPr txBox="1"/>
          <p:nvPr/>
        </p:nvSpPr>
        <p:spPr>
          <a:xfrm>
            <a:off x="3383280" y="3200400"/>
            <a:ext cx="18288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i="1" lang="en-US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= Exit → End</a:t>
            </a:r>
            <a:endParaRPr dirty="0" sz="1100" lang="en-US"/>
          </a:p>
        </p:txBody>
      </p:sp>
      <p:sp>
        <p:nvSpPr>
          <p:cNvPr id="1048755" name="Text 45"/>
          <p:cNvSpPr txBox="1"/>
          <p:nvPr/>
        </p:nvSpPr>
        <p:spPr>
          <a:xfrm>
            <a:off x="457200" y="4480560"/>
            <a:ext cx="8229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until the user chooses Exit</a:t>
            </a:r>
            <a:endParaRPr dirty="0" sz="13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760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761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dirty="0" sz="2800" lang="en-US"/>
          </a:p>
        </p:txBody>
      </p:sp>
      <p:sp>
        <p:nvSpPr>
          <p:cNvPr id="1048762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10</a:t>
            </a:r>
            <a:endParaRPr dirty="0" sz="1400" lang="en-US"/>
          </a:p>
        </p:txBody>
      </p:sp>
      <p:sp>
        <p:nvSpPr>
          <p:cNvPr id="1048763" name="Shape 4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764" name="Text 5"/>
          <p:cNvSpPr txBox="1"/>
          <p:nvPr/>
        </p:nvSpPr>
        <p:spPr>
          <a:xfrm>
            <a:off x="777240" y="1243584"/>
            <a:ext cx="75895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handling in delete</a:t>
            </a:r>
            <a:endParaRPr dirty="0" sz="1400" lang="en-US"/>
          </a:p>
        </p:txBody>
      </p:sp>
      <p:sp>
        <p:nvSpPr>
          <p:cNvPr id="1048765" name="Text 6"/>
          <p:cNvSpPr txBox="1"/>
          <p:nvPr/>
        </p:nvSpPr>
        <p:spPr>
          <a:xfrm>
            <a:off x="777240" y="1536192"/>
            <a:ext cx="75895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prev and next of neighbours, and the head pointer when deleting the first node.</a:t>
            </a:r>
            <a:endParaRPr dirty="0" sz="1200" lang="en-US"/>
          </a:p>
        </p:txBody>
      </p:sp>
      <p:sp>
        <p:nvSpPr>
          <p:cNvPr id="1048766" name="Shape 7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767" name="Text 8"/>
          <p:cNvSpPr txBox="1"/>
          <p:nvPr/>
        </p:nvSpPr>
        <p:spPr>
          <a:xfrm>
            <a:off x="777240" y="2112264"/>
            <a:ext cx="75895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current pointer</a:t>
            </a:r>
            <a:endParaRPr dirty="0" sz="1400" lang="en-US"/>
          </a:p>
        </p:txBody>
      </p:sp>
      <p:sp>
        <p:nvSpPr>
          <p:cNvPr id="1048768" name="Text 9"/>
          <p:cNvSpPr txBox="1"/>
          <p:nvPr/>
        </p:nvSpPr>
        <p:spPr>
          <a:xfrm>
            <a:off x="777240" y="2404872"/>
            <a:ext cx="75895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song is deleted, current moves to next, or to prev if none.</a:t>
            </a:r>
            <a:endParaRPr dirty="0" sz="1200" lang="en-US"/>
          </a:p>
        </p:txBody>
      </p:sp>
      <p:sp>
        <p:nvSpPr>
          <p:cNvPr id="1048769" name="Shape 10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9050">
            <a:solidFill>
              <a:srgbClr val="6C4DF6"/>
            </a:solidFill>
            <a:prstDash val="solid"/>
          </a:ln>
        </p:spPr>
      </p:sp>
      <p:sp>
        <p:nvSpPr>
          <p:cNvPr id="1048770" name="Text 11"/>
          <p:cNvSpPr txBox="1"/>
          <p:nvPr/>
        </p:nvSpPr>
        <p:spPr>
          <a:xfrm>
            <a:off x="777240" y="2980944"/>
            <a:ext cx="75895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names with spaces</a:t>
            </a:r>
            <a:endParaRPr dirty="0" sz="1400" lang="en-US"/>
          </a:p>
        </p:txBody>
      </p:sp>
      <p:sp>
        <p:nvSpPr>
          <p:cNvPr id="1048771" name="Text 12"/>
          <p:cNvSpPr txBox="1"/>
          <p:nvPr/>
        </p:nvSpPr>
        <p:spPr>
          <a:xfrm>
            <a:off x="777240" y="3273552"/>
            <a:ext cx="75895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scanf(" %[^\n]") instead of plain %s.</a:t>
            </a:r>
            <a:endParaRPr dirty="0" sz="1200" lang="en-US"/>
          </a:p>
        </p:txBody>
      </p:sp>
      <p:sp>
        <p:nvSpPr>
          <p:cNvPr id="1048772" name="Shape 13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9050">
            <a:solidFill>
              <a:srgbClr val="FF5C8A"/>
            </a:solidFill>
            <a:prstDash val="solid"/>
          </a:ln>
        </p:spPr>
      </p:sp>
      <p:sp>
        <p:nvSpPr>
          <p:cNvPr id="1048773" name="Text 14"/>
          <p:cNvSpPr txBox="1"/>
          <p:nvPr/>
        </p:nvSpPr>
        <p:spPr>
          <a:xfrm>
            <a:off x="777240" y="3849624"/>
            <a:ext cx="75895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dirty="0" sz="1400" lang="en-US"/>
          </a:p>
        </p:txBody>
      </p:sp>
      <p:sp>
        <p:nvSpPr>
          <p:cNvPr id="1048774" name="Text 15"/>
          <p:cNvSpPr txBox="1"/>
          <p:nvPr/>
        </p:nvSpPr>
        <p:spPr>
          <a:xfrm>
            <a:off x="777240" y="4142232"/>
            <a:ext cx="75895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free() after unlinking a node to avoid leaks.</a:t>
            </a:r>
            <a:endParaRPr dirty="0" sz="12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779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780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dirty="0" sz="2800" lang="en-US"/>
          </a:p>
        </p:txBody>
      </p:sp>
      <p:sp>
        <p:nvSpPr>
          <p:cNvPr id="1048781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11</a:t>
            </a:r>
            <a:endParaRPr dirty="0" sz="1400" lang="en-US"/>
          </a:p>
        </p:txBody>
      </p:sp>
      <p:sp>
        <p:nvSpPr>
          <p:cNvPr id="1048782" name="Text 4"/>
          <p:cNvSpPr txBox="1"/>
          <p:nvPr/>
        </p:nvSpPr>
        <p:spPr>
          <a:xfrm>
            <a:off x="640080" y="1280160"/>
            <a:ext cx="7863840" cy="329184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playlists from a file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and repeat modes (circular linked list)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songs by name or artist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song at a chosen position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duration, album and genre; build a GUI or mobile app</a:t>
            </a:r>
            <a:endParaRPr dirty="0" sz="19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hape 0"/>
          <p:cNvSpPr/>
          <p:nvPr/>
        </p:nvSpPr>
        <p:spPr>
          <a:xfrm>
            <a:off x="0" y="0"/>
            <a:ext cx="9144000" cy="868680"/>
          </a:xfrm>
          <a:prstGeom prst="rect"/>
          <a:solidFill>
            <a:srgbClr val="1B1F3B"/>
          </a:solidFill>
        </p:spPr>
      </p:sp>
      <p:sp>
        <p:nvSpPr>
          <p:cNvPr id="1048787" name="Shape 1"/>
          <p:cNvSpPr/>
          <p:nvPr/>
        </p:nvSpPr>
        <p:spPr>
          <a:xfrm>
            <a:off x="0" y="868680"/>
            <a:ext cx="9144000" cy="54864"/>
          </a:xfrm>
          <a:prstGeom prst="rect"/>
          <a:solidFill>
            <a:srgbClr val="FF5C8A"/>
          </a:solidFill>
        </p:spPr>
      </p:sp>
      <p:sp>
        <p:nvSpPr>
          <p:cNvPr id="1048788" name="Text 2"/>
          <p:cNvSpPr txBox="1"/>
          <p:nvPr/>
        </p:nvSpPr>
        <p:spPr>
          <a:xfrm>
            <a:off x="457200" y="109728"/>
            <a:ext cx="73152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dirty="0" sz="2800" lang="en-US"/>
          </a:p>
        </p:txBody>
      </p:sp>
      <p:sp>
        <p:nvSpPr>
          <p:cNvPr id="1048789" name="Text 3"/>
          <p:cNvSpPr txBox="1"/>
          <p:nvPr/>
        </p:nvSpPr>
        <p:spPr>
          <a:xfrm>
            <a:off x="8229600" y="228600"/>
            <a:ext cx="45720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400" lang="en-US">
                <a:solidFill>
                  <a:srgbClr val="C9C2FF"/>
                </a:solidFill>
              </a:rPr>
              <a:t>12</a:t>
            </a:r>
            <a:endParaRPr dirty="0" sz="1400" lang="en-US"/>
          </a:p>
        </p:txBody>
      </p:sp>
      <p:sp>
        <p:nvSpPr>
          <p:cNvPr id="1048790" name="Text 4"/>
          <p:cNvSpPr txBox="1"/>
          <p:nvPr/>
        </p:nvSpPr>
        <p:spPr>
          <a:xfrm>
            <a:off x="640080" y="1280160"/>
            <a:ext cx="7863840" cy="2560320"/>
          </a:xfrm>
          <a:prstGeom prst="rect"/>
          <a:noFill/>
        </p:spPr>
        <p:txBody>
          <a:bodyPr anchor="t" rtlCol="0" wrap="square"/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menu-driven Music Playlist Manager using a doubly linked list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dynamic add, delete, search, display and two-way navigation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pointers, dynamic memory allocation and linked list operations</a:t>
            </a:r>
            <a:endParaRPr dirty="0" sz="1900" lang="en-US"/>
          </a:p>
          <a:p>
            <a:pPr indent="-342900" marL="342900">
              <a:spcAft>
                <a:spcPts val="1000"/>
              </a:spcAft>
              <a:buSzPct val="100000"/>
              <a:buChar char="•"/>
            </a:pPr>
            <a:r>
              <a:rPr dirty="0" sz="1900" lang="en-US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why linked lists suit frequently changing data</a:t>
            </a:r>
            <a:endParaRPr dirty="0" sz="1900" lang="en-US"/>
          </a:p>
        </p:txBody>
      </p:sp>
      <p:sp>
        <p:nvSpPr>
          <p:cNvPr id="1048791" name="Text 5"/>
          <p:cNvSpPr txBox="1"/>
          <p:nvPr/>
        </p:nvSpPr>
        <p:spPr>
          <a:xfrm>
            <a:off x="640080" y="3931920"/>
            <a:ext cx="786384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6C4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dirty="0" sz="3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2026-10-02T10:15:56Z</dcterms:created>
  <dcterms:modified xsi:type="dcterms:W3CDTF">2026-10-20T14:57:07Z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c840552d7288446db3e0eaa8d05615ea_23</vt:lpwstr>
  </property>
</Properties>
</file>